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 id="2147483714" r:id="rId2"/>
    <p:sldMasterId id="2147483732" r:id="rId3"/>
  </p:sldMasterIdLst>
  <p:sldIdLst>
    <p:sldId id="271"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varScale="1">
        <p:scale>
          <a:sx n="78" d="100"/>
          <a:sy n="78" d="100"/>
        </p:scale>
        <p:origin x="161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9144000" cy="6858000"/>
          </a:xfrm>
        </p:grpSpPr>
        <p:pic>
          <p:nvPicPr>
            <p:cNvPr id="7" name="Picture 6" descr="S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25780"/>
              <a:ext cx="1664208" cy="612648"/>
            </a:xfrm>
            <a:prstGeom prst="rect">
              <a:avLst/>
            </a:prstGeom>
          </p:spPr>
        </p:pic>
        <p:pic>
          <p:nvPicPr>
            <p:cNvPr id="14" name="Picture 13"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719572"/>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7861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494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54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8707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2980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676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2622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2612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70"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1491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6342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0323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192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4578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1262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7"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1532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1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5348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6542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21422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47693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9676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59285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64274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00160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80828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31932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89508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02386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32140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73794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8508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03858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9009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10115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45148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07249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674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51207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27653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780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43845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89274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30819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80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3784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9908799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68690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44424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25541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47080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0327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7.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9.pn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44000" cy="6858001"/>
            <a:chOff x="0" y="0"/>
            <a:chExt cx="9144000" cy="6858001"/>
          </a:xfrm>
        </p:grpSpPr>
        <p:pic>
          <p:nvPicPr>
            <p:cNvPr id="8" name="Picture 7" descr="S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39689"/>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6211888"/>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8663282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050637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0455420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5BBB-F46E-3AD1-D39B-EF85E011B4A2}"/>
              </a:ext>
            </a:extLst>
          </p:cNvPr>
          <p:cNvSpPr>
            <a:spLocks noGrp="1"/>
          </p:cNvSpPr>
          <p:nvPr>
            <p:ph type="title"/>
          </p:nvPr>
        </p:nvSpPr>
        <p:spPr/>
        <p:txBody>
          <a:bodyPr/>
          <a:lstStyle/>
          <a:p>
            <a:r>
              <a:rPr lang="en-US" dirty="0"/>
              <a:t>IP Protocols and IP Address</a:t>
            </a:r>
            <a:endParaRPr lang="en-IN" dirty="0"/>
          </a:p>
        </p:txBody>
      </p:sp>
      <p:sp>
        <p:nvSpPr>
          <p:cNvPr id="3" name="Content Placeholder 2">
            <a:extLst>
              <a:ext uri="{FF2B5EF4-FFF2-40B4-BE49-F238E27FC236}">
                <a16:creationId xmlns:a16="http://schemas.microsoft.com/office/drawing/2014/main" id="{A0995C5F-CEB0-9F19-F348-814839E0E9D6}"/>
              </a:ext>
            </a:extLst>
          </p:cNvPr>
          <p:cNvSpPr>
            <a:spLocks noGrp="1"/>
          </p:cNvSpPr>
          <p:nvPr>
            <p:ph idx="1"/>
          </p:nvPr>
        </p:nvSpPr>
        <p:spPr/>
        <p:txBody>
          <a:bodyPr>
            <a:normAutofit/>
          </a:bodyPr>
          <a:lstStyle/>
          <a:p>
            <a:pPr marL="0" indent="0">
              <a:buNone/>
            </a:pPr>
            <a:r>
              <a:rPr lang="en-US" sz="3200" dirty="0">
                <a:solidFill>
                  <a:schemeClr val="tx2">
                    <a:lumMod val="10000"/>
                  </a:schemeClr>
                </a:solidFill>
              </a:rPr>
              <a:t>PRESENTED BY:</a:t>
            </a:r>
          </a:p>
          <a:p>
            <a:pPr marL="0" indent="0">
              <a:buNone/>
            </a:pPr>
            <a:r>
              <a:rPr lang="en-US" sz="3200" dirty="0">
                <a:solidFill>
                  <a:schemeClr val="tx2">
                    <a:lumMod val="10000"/>
                  </a:schemeClr>
                </a:solidFill>
              </a:rPr>
              <a:t>                 SEGU RASOOL</a:t>
            </a:r>
          </a:p>
          <a:p>
            <a:pPr marL="0" indent="0">
              <a:buNone/>
            </a:pPr>
            <a:r>
              <a:rPr lang="en-US" sz="3200" dirty="0">
                <a:solidFill>
                  <a:schemeClr val="tx2">
                    <a:lumMod val="10000"/>
                  </a:schemeClr>
                </a:solidFill>
              </a:rPr>
              <a:t>                 NELLORE GUNA SHEKAR</a:t>
            </a:r>
            <a:endParaRPr lang="en-IN" sz="3200" dirty="0">
              <a:solidFill>
                <a:schemeClr val="tx2">
                  <a:lumMod val="10000"/>
                </a:schemeClr>
              </a:solidFill>
            </a:endParaRPr>
          </a:p>
          <a:p>
            <a:endParaRPr lang="en-US" sz="3200" dirty="0">
              <a:solidFill>
                <a:schemeClr val="tx2">
                  <a:lumMod val="10000"/>
                </a:schemeClr>
              </a:solidFill>
            </a:endParaRPr>
          </a:p>
        </p:txBody>
      </p:sp>
    </p:spTree>
    <p:extLst>
      <p:ext uri="{BB962C8B-B14F-4D97-AF65-F5344CB8AC3E}">
        <p14:creationId xmlns:p14="http://schemas.microsoft.com/office/powerpoint/2010/main" val="3183484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IP Protocols and IP Address</a:t>
            </a:r>
          </a:p>
        </p:txBody>
      </p:sp>
      <p:sp>
        <p:nvSpPr>
          <p:cNvPr id="3" name="Content Placeholder 2"/>
          <p:cNvSpPr>
            <a:spLocks noGrp="1"/>
          </p:cNvSpPr>
          <p:nvPr>
            <p:ph idx="1"/>
          </p:nvPr>
        </p:nvSpPr>
        <p:spPr/>
        <p:txBody>
          <a:bodyPr>
            <a:normAutofit lnSpcReduction="10000"/>
          </a:bodyPr>
          <a:lstStyle/>
          <a:p>
            <a:endParaRPr sz="2800" dirty="0"/>
          </a:p>
          <a:p>
            <a:r>
              <a:rPr sz="2800" dirty="0"/>
              <a:t>The Internet Protocol (IP) is one of the most important protocols used in computer networks. It helps deliver data packets between devices across networks. IP operates in the Network Layer (Layer 3) of the OSI model and defines addressing and routing of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an IP Address?</a:t>
            </a:r>
          </a:p>
        </p:txBody>
      </p:sp>
      <p:sp>
        <p:nvSpPr>
          <p:cNvPr id="3" name="Content Placeholder 2"/>
          <p:cNvSpPr>
            <a:spLocks noGrp="1"/>
          </p:cNvSpPr>
          <p:nvPr>
            <p:ph idx="1"/>
          </p:nvPr>
        </p:nvSpPr>
        <p:spPr/>
        <p:txBody>
          <a:bodyPr>
            <a:normAutofit fontScale="77500" lnSpcReduction="20000"/>
          </a:bodyPr>
          <a:lstStyle/>
          <a:p>
            <a:r>
              <a:t>An IP Address (Internet Protocol Address) is a unique numerical label assigned to each device connected to a network. It identifies and locates devices and allows communication between them.</a:t>
            </a:r>
          </a:p>
          <a:p>
            <a:endParaRPr/>
          </a:p>
          <a:p>
            <a:r>
              <a:t>Examples:</a:t>
            </a:r>
          </a:p>
          <a:p>
            <a:r>
              <a:t>IPv4 → 192.168.1.10</a:t>
            </a:r>
          </a:p>
          <a:p>
            <a:r>
              <a:t>IPv6 → 2001:0db8:85a3::8a2e:0370:7334</a:t>
            </a:r>
          </a:p>
          <a:p>
            <a:endParaRPr/>
          </a:p>
          <a:p>
            <a:r>
              <a:t>Just like a house address helps deliver letters, an IP address helps route data to the correct device.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Structure of an IP Address</a:t>
            </a:r>
          </a:p>
        </p:txBody>
      </p:sp>
      <p:sp>
        <p:nvSpPr>
          <p:cNvPr id="3" name="Content Placeholder 2"/>
          <p:cNvSpPr>
            <a:spLocks noGrp="1"/>
          </p:cNvSpPr>
          <p:nvPr>
            <p:ph idx="1"/>
          </p:nvPr>
        </p:nvSpPr>
        <p:spPr/>
        <p:txBody>
          <a:bodyPr>
            <a:normAutofit fontScale="92500" lnSpcReduction="20000"/>
          </a:bodyPr>
          <a:lstStyle/>
          <a:p>
            <a:r>
              <a:t>An IP address has two parts:</a:t>
            </a:r>
          </a:p>
          <a:p>
            <a:r>
              <a:t>• Network ID – Identifies the network.</a:t>
            </a:r>
          </a:p>
          <a:p>
            <a:r>
              <a:t>• Host ID – Identifies the device in that network.</a:t>
            </a:r>
          </a:p>
          <a:p>
            <a:endParaRPr/>
          </a:p>
          <a:p>
            <a:r>
              <a:t>Example: 192.168.10.5 → Network ID: 192.168.10 | Host ID: 5</a:t>
            </a:r>
          </a:p>
          <a:p>
            <a:endParaRPr/>
          </a:p>
          <a:p>
            <a:r>
              <a:t>Routers use the network part to forward packets to the correct destination.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IPv4 (Internet Protocol version 4)</a:t>
            </a:r>
          </a:p>
        </p:txBody>
      </p:sp>
      <p:sp>
        <p:nvSpPr>
          <p:cNvPr id="3" name="Content Placeholder 2"/>
          <p:cNvSpPr>
            <a:spLocks noGrp="1"/>
          </p:cNvSpPr>
          <p:nvPr>
            <p:ph idx="1"/>
          </p:nvPr>
        </p:nvSpPr>
        <p:spPr/>
        <p:txBody>
          <a:bodyPr>
            <a:normAutofit lnSpcReduction="10000"/>
          </a:bodyPr>
          <a:lstStyle/>
          <a:p>
            <a:r>
              <a:t>IPv4 is a 32-bit numeric addressing system written in dot-decimal notation.</a:t>
            </a:r>
          </a:p>
          <a:p>
            <a:r>
              <a:t>Each octet ranges from 0 to 255.</a:t>
            </a:r>
          </a:p>
          <a:p>
            <a:r>
              <a:t>Example: 172.16.0.1</a:t>
            </a:r>
          </a:p>
          <a:p>
            <a:endParaRPr/>
          </a:p>
          <a:p>
            <a:r>
              <a:t>IPv4 supports around 4.3 billion addresses. Due to the huge growth of the Internet, these addresses are nearly exhausted.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Classes of IPv4 Addresses</a:t>
            </a:r>
          </a:p>
        </p:txBody>
      </p:sp>
      <p:sp>
        <p:nvSpPr>
          <p:cNvPr id="3" name="Content Placeholder 2"/>
          <p:cNvSpPr>
            <a:spLocks noGrp="1"/>
          </p:cNvSpPr>
          <p:nvPr>
            <p:ph idx="1"/>
          </p:nvPr>
        </p:nvSpPr>
        <p:spPr/>
        <p:txBody>
          <a:bodyPr>
            <a:normAutofit fontScale="92500" lnSpcReduction="20000"/>
          </a:bodyPr>
          <a:lstStyle/>
          <a:p>
            <a:r>
              <a:t>IPv4 addresses are divided into five classes based on network size:</a:t>
            </a:r>
          </a:p>
          <a:p>
            <a:endParaRPr/>
          </a:p>
          <a:p>
            <a:r>
              <a:t>Class A: 1.0.0.0 – 126.255.255.255 → Large Networks</a:t>
            </a:r>
          </a:p>
          <a:p>
            <a:r>
              <a:t>Class B: 128.0.0.0 – 191.255.255.255 → Medium Networks</a:t>
            </a:r>
          </a:p>
          <a:p>
            <a:r>
              <a:t>Class C: 192.0.0.0 – 223.255.255.255 → Small Networks</a:t>
            </a:r>
          </a:p>
          <a:p>
            <a:r>
              <a:t>Class D: 224.0.0.0 – 239.255.255.255 → Multicasting</a:t>
            </a:r>
          </a:p>
          <a:p>
            <a:r>
              <a:t>Class E: 240.0.0.0 – 255.255.255.255 → Experimental use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IPv6 (Internet Protocol version 6)</a:t>
            </a:r>
          </a:p>
        </p:txBody>
      </p:sp>
      <p:sp>
        <p:nvSpPr>
          <p:cNvPr id="3" name="Content Placeholder 2"/>
          <p:cNvSpPr>
            <a:spLocks noGrp="1"/>
          </p:cNvSpPr>
          <p:nvPr>
            <p:ph idx="1"/>
          </p:nvPr>
        </p:nvSpPr>
        <p:spPr/>
        <p:txBody>
          <a:bodyPr>
            <a:normAutofit fontScale="92500"/>
          </a:bodyPr>
          <a:lstStyle/>
          <a:p>
            <a:r>
              <a:t>IPv6 is a 128-bit addressing system designed to replace IPv4.</a:t>
            </a:r>
          </a:p>
          <a:p>
            <a:r>
              <a:t>It uses hexadecimal numbers and colons (:) to separate groups.</a:t>
            </a:r>
          </a:p>
          <a:p>
            <a:r>
              <a:t>Example: 2001:0db8:0000:85a3:0000:0000:ac1f:8001</a:t>
            </a:r>
          </a:p>
          <a:p>
            <a:endParaRPr/>
          </a:p>
          <a:p>
            <a:r>
              <a:t>IPv6 provides an enormous number of addresses, improved routing efficiency, and built-in security (IPSec).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Difference Between IPv4 and IPv6</a:t>
            </a:r>
          </a:p>
        </p:txBody>
      </p:sp>
      <p:sp>
        <p:nvSpPr>
          <p:cNvPr id="3" name="Content Placeholder 2"/>
          <p:cNvSpPr>
            <a:spLocks noGrp="1"/>
          </p:cNvSpPr>
          <p:nvPr>
            <p:ph idx="1"/>
          </p:nvPr>
        </p:nvSpPr>
        <p:spPr/>
        <p:txBody>
          <a:bodyPr/>
          <a:lstStyle/>
          <a:p>
            <a:r>
              <a:t>Feature | IPv4 | IPv6</a:t>
            </a:r>
          </a:p>
          <a:p>
            <a:r>
              <a:t>Address Length | 32-bit | 128-bit</a:t>
            </a:r>
          </a:p>
          <a:p>
            <a:r>
              <a:t>Format | Decimal | Hexadecimal</a:t>
            </a:r>
          </a:p>
          <a:p>
            <a:r>
              <a:t>Addresses | 4.3 Billion | Trillions</a:t>
            </a:r>
          </a:p>
          <a:p>
            <a:r>
              <a:t>Security | Optional IPSec | Built-in IPSec</a:t>
            </a:r>
          </a:p>
          <a:p>
            <a:r>
              <a:t>Header | Simple | Complex but efficient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IP Addresses</a:t>
            </a:r>
          </a:p>
        </p:txBody>
      </p:sp>
      <p:sp>
        <p:nvSpPr>
          <p:cNvPr id="3" name="Content Placeholder 2"/>
          <p:cNvSpPr>
            <a:spLocks noGrp="1"/>
          </p:cNvSpPr>
          <p:nvPr>
            <p:ph idx="1"/>
          </p:nvPr>
        </p:nvSpPr>
        <p:spPr/>
        <p:txBody>
          <a:bodyPr/>
          <a:lstStyle/>
          <a:p>
            <a:r>
              <a:t>1. Public IP – Used on the Internet, assigned by ISPs.</a:t>
            </a:r>
          </a:p>
          <a:p>
            <a:r>
              <a:t>2. Private IP – Used inside local networks (e.g., 192.168.x.x).</a:t>
            </a:r>
          </a:p>
          <a:p>
            <a:r>
              <a:t>3. Static IP – Fixed address, manually assigned (used for servers).</a:t>
            </a:r>
          </a:p>
          <a:p>
            <a:r>
              <a:t>4. Dynamic IP – Changes automatically via DHCP (used by most users).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IP Protocol Overview</a:t>
            </a:r>
          </a:p>
        </p:txBody>
      </p:sp>
      <p:sp>
        <p:nvSpPr>
          <p:cNvPr id="3" name="Content Placeholder 2"/>
          <p:cNvSpPr>
            <a:spLocks noGrp="1"/>
          </p:cNvSpPr>
          <p:nvPr>
            <p:ph idx="1"/>
          </p:nvPr>
        </p:nvSpPr>
        <p:spPr/>
        <p:txBody>
          <a:bodyPr/>
          <a:lstStyle/>
          <a:p>
            <a:r>
              <a:t>The Internet Protocol (IP) is connectionless and unreliable by itself. It does not guarantee delivery or order of packets but ensures correct addressing and routing.</a:t>
            </a:r>
          </a:p>
          <a:p>
            <a:endParaRPr/>
          </a:p>
          <a:p>
            <a:r>
              <a:t>Reliability is managed by higher-layer protocols such as TCP (Transmission Control Protocol).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 IP Protocols</a:t>
            </a:r>
          </a:p>
        </p:txBody>
      </p:sp>
      <p:sp>
        <p:nvSpPr>
          <p:cNvPr id="3" name="Content Placeholder 2"/>
          <p:cNvSpPr>
            <a:spLocks noGrp="1"/>
          </p:cNvSpPr>
          <p:nvPr>
            <p:ph idx="1"/>
          </p:nvPr>
        </p:nvSpPr>
        <p:spPr/>
        <p:txBody>
          <a:bodyPr>
            <a:normAutofit fontScale="92500" lnSpcReduction="10000"/>
          </a:bodyPr>
          <a:lstStyle/>
          <a:p>
            <a:r>
              <a:t>• ICMP (Internet Control Message Protocol) – Used for error reporting and diagnostics (e.g., ping).</a:t>
            </a:r>
          </a:p>
          <a:p>
            <a:r>
              <a:t>• ARP (Address Resolution Protocol) – Finds MAC address for a given IP.</a:t>
            </a:r>
          </a:p>
          <a:p>
            <a:r>
              <a:t>• RARP (Reverse ARP) – Finds IP from a MAC address.</a:t>
            </a:r>
          </a:p>
          <a:p>
            <a:r>
              <a:t>• IGMP (Internet Group Management Protocol) – Manages multicast groups.</a:t>
            </a:r>
          </a:p>
          <a:p>
            <a:r>
              <a:t>• IPSec (Internet Protocol Security) – Provides secure IP communication.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Functions of IP</a:t>
            </a:r>
          </a:p>
        </p:txBody>
      </p:sp>
      <p:sp>
        <p:nvSpPr>
          <p:cNvPr id="3" name="Content Placeholder 2"/>
          <p:cNvSpPr>
            <a:spLocks noGrp="1"/>
          </p:cNvSpPr>
          <p:nvPr>
            <p:ph idx="1"/>
          </p:nvPr>
        </p:nvSpPr>
        <p:spPr/>
        <p:txBody>
          <a:bodyPr>
            <a:normAutofit fontScale="92500"/>
          </a:bodyPr>
          <a:lstStyle/>
          <a:p>
            <a:r>
              <a:t>1. Addressing – Assigns unique identifiers to each device.</a:t>
            </a:r>
          </a:p>
          <a:p>
            <a:r>
              <a:t>2. Routing – Determines the best path for packets.</a:t>
            </a:r>
          </a:p>
          <a:p>
            <a:r>
              <a:t>3. Fragmentation &amp; Reassembly – Breaks and rebuilds data packets.</a:t>
            </a:r>
          </a:p>
          <a:p>
            <a:r>
              <a:t>4. Encapsulation – Wraps higher-layer data for transmission.</a:t>
            </a:r>
          </a:p>
          <a:p>
            <a:r>
              <a:t>5. Error Handling – Works with ICMP for control messages.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IP Works (Step-by-Step)</a:t>
            </a:r>
          </a:p>
        </p:txBody>
      </p:sp>
      <p:sp>
        <p:nvSpPr>
          <p:cNvPr id="3" name="Content Placeholder 2"/>
          <p:cNvSpPr>
            <a:spLocks noGrp="1"/>
          </p:cNvSpPr>
          <p:nvPr>
            <p:ph idx="1"/>
          </p:nvPr>
        </p:nvSpPr>
        <p:spPr/>
        <p:txBody>
          <a:bodyPr>
            <a:normAutofit lnSpcReduction="10000"/>
          </a:bodyPr>
          <a:lstStyle/>
          <a:p>
            <a:r>
              <a:t>1. Data is generated by the Application Layer.</a:t>
            </a:r>
          </a:p>
          <a:p>
            <a:r>
              <a:t>2. The Transport Layer adds port numbers (TCP/UDP).</a:t>
            </a:r>
          </a:p>
          <a:p>
            <a:r>
              <a:t>3. The Network Layer (IP) adds source and destination IP addresses.</a:t>
            </a:r>
          </a:p>
          <a:p>
            <a:r>
              <a:t>4. Packets travel through routers to the destination.</a:t>
            </a:r>
          </a:p>
          <a:p>
            <a:r>
              <a:t>5. At the destination, packets are reassembled and delivered to the correct process.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IP Protocols</a:t>
            </a:r>
          </a:p>
        </p:txBody>
      </p:sp>
      <p:sp>
        <p:nvSpPr>
          <p:cNvPr id="3" name="Content Placeholder 2"/>
          <p:cNvSpPr>
            <a:spLocks noGrp="1"/>
          </p:cNvSpPr>
          <p:nvPr>
            <p:ph idx="1"/>
          </p:nvPr>
        </p:nvSpPr>
        <p:spPr/>
        <p:txBody>
          <a:bodyPr/>
          <a:lstStyle/>
          <a:p>
            <a:r>
              <a:t>• IP forms the foundation of the Internet.</a:t>
            </a:r>
          </a:p>
          <a:p>
            <a:r>
              <a:t>• Enables inter-device communication across networks.</a:t>
            </a:r>
          </a:p>
          <a:p>
            <a:r>
              <a:t>• Provides secure and efficient data transfer.</a:t>
            </a:r>
          </a:p>
          <a:p>
            <a:r>
              <a:t>• Essential for network engineers and cybersecurity professionals.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Real-Life Example</a:t>
            </a:r>
          </a:p>
        </p:txBody>
      </p:sp>
      <p:sp>
        <p:nvSpPr>
          <p:cNvPr id="3" name="Content Placeholder 2"/>
          <p:cNvSpPr>
            <a:spLocks noGrp="1"/>
          </p:cNvSpPr>
          <p:nvPr>
            <p:ph idx="1"/>
          </p:nvPr>
        </p:nvSpPr>
        <p:spPr/>
        <p:txBody>
          <a:bodyPr>
            <a:normAutofit fontScale="92500" lnSpcReduction="20000"/>
          </a:bodyPr>
          <a:lstStyle/>
          <a:p>
            <a:r>
              <a:t>When you visit a website:</a:t>
            </a:r>
          </a:p>
          <a:p>
            <a:r>
              <a:t>1. Your browser requests the IP of the site via DNS.</a:t>
            </a:r>
          </a:p>
          <a:p>
            <a:r>
              <a:t>2. Your computer sends data packets from its IP to the server’s IP.</a:t>
            </a:r>
          </a:p>
          <a:p>
            <a:r>
              <a:t>3. IP routes them through routers to reach the server.</a:t>
            </a:r>
          </a:p>
          <a:p>
            <a:r>
              <a:t>4. The server sends back webpage data using your IP address.</a:t>
            </a:r>
          </a:p>
          <a:p>
            <a:endParaRPr/>
          </a:p>
          <a:p>
            <a:r>
              <a:t>This entire process depends on IP addressing and routing.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lnSpcReduction="10000"/>
          </a:bodyPr>
          <a:lstStyle/>
          <a:p>
            <a:r>
              <a:t>• IP and its associated protocols are the backbone of Internet communication.</a:t>
            </a:r>
          </a:p>
          <a:p>
            <a:r>
              <a:t>• Every online activity depends on IP addressing and routing.</a:t>
            </a:r>
          </a:p>
          <a:p>
            <a:r>
              <a:t>• Understanding IP helps in mastering computer networks, cybersecurity, and ethical hacking.</a:t>
            </a:r>
          </a:p>
          <a:p>
            <a:endParaRPr/>
          </a:p>
          <a:p>
            <a:r>
              <a:t>Quote: “No IP – No Internet!”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1_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lk Glass">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Organic</Template>
  <TotalTime>9</TotalTime>
  <Words>886</Words>
  <Application>Microsoft Office PowerPoint</Application>
  <PresentationFormat>On-screen Show (4:3)</PresentationFormat>
  <Paragraphs>96</Paragraphs>
  <Slides>16</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16</vt:i4>
      </vt:variant>
    </vt:vector>
  </HeadingPairs>
  <TitlesOfParts>
    <vt:vector size="22" baseType="lpstr">
      <vt:lpstr>Arial</vt:lpstr>
      <vt:lpstr>Garamond</vt:lpstr>
      <vt:lpstr>Trebuchet MS</vt:lpstr>
      <vt:lpstr>Organic</vt:lpstr>
      <vt:lpstr>1_Organic</vt:lpstr>
      <vt:lpstr>Berlin</vt:lpstr>
      <vt:lpstr>IP Protocols and IP Address</vt:lpstr>
      <vt:lpstr>IP Protocols and IP Address</vt:lpstr>
      <vt:lpstr>What is an IP Address?</vt:lpstr>
      <vt:lpstr>Structure of an IP Address</vt:lpstr>
      <vt:lpstr>IPv4 (Internet Protocol version 4)</vt:lpstr>
      <vt:lpstr>Classes of IPv4 Addresses</vt:lpstr>
      <vt:lpstr>IPv6 (Internet Protocol version 6)</vt:lpstr>
      <vt:lpstr>Difference Between IPv4 and IPv6</vt:lpstr>
      <vt:lpstr>Types of IP Addresses</vt:lpstr>
      <vt:lpstr>IP Protocol Overview</vt:lpstr>
      <vt:lpstr>Important IP Protocols</vt:lpstr>
      <vt:lpstr>Functions of IP</vt:lpstr>
      <vt:lpstr>How IP Works (Step-by-Step)</vt:lpstr>
      <vt:lpstr>Importance of IP Protocols</vt:lpstr>
      <vt:lpstr>Real-Life Example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Protocols and IP Address</dc:title>
  <dc:subject/>
  <dc:creator/>
  <cp:keywords/>
  <dc:description>generated using python-pptx</dc:description>
  <cp:lastModifiedBy>sakenavya1109@gmail.com</cp:lastModifiedBy>
  <cp:revision>2</cp:revision>
  <dcterms:created xsi:type="dcterms:W3CDTF">2013-01-27T09:14:16Z</dcterms:created>
  <dcterms:modified xsi:type="dcterms:W3CDTF">2025-11-04T11:24:16Z</dcterms:modified>
  <cp:category/>
</cp:coreProperties>
</file>